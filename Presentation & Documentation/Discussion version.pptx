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 ·  DATA ANALYSIS TRACK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AQI Prediction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engineering, machine learning, and product design case study — from raw pollutant readings to a predictive, user-facing air-quality platform.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— Graduation Project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Eng. Mohamed El-Emam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5623560"/>
            <a:ext cx="0" cy="548640"/>
          </a:xfrm>
          <a:prstGeom prst="line">
            <a:avLst/>
          </a:prstGeom>
          <a:noFill/>
          <a:ln w="12700">
            <a:solidFill>
              <a:srgbClr val="1E3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5577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5870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data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5623560"/>
            <a:ext cx="0" cy="548640"/>
          </a:xfrm>
          <a:prstGeom prst="line">
            <a:avLst/>
          </a:prstGeom>
          <a:noFill/>
          <a:ln w="12700">
            <a:solidFill>
              <a:srgbClr val="1E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392" y="5577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Regression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79392" y="5870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for AQI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60920" y="5623560"/>
            <a:ext cx="0" cy="548640"/>
          </a:xfrm>
          <a:prstGeom prst="line">
            <a:avLst/>
          </a:prstGeom>
          <a:noFill/>
          <a:ln w="12700">
            <a:solidFill>
              <a:srgbClr val="1E3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25512" y="55778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+ Power 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25512" y="5870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dashboard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air quality — and why now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25856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 data is fragmented across countries and formats, making it hard to monitor conditions or act early.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9900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9900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374136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air quality is a leading environmental health risk — timely, localized AQI insight helps people and cities respond faster.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10565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410565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48970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pipeline that ingests raw readings, engineers features, predicts AQI, and surfaces it through a usable interface.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2212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52212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560527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analytics foundation — clean data, an interpretable model, and a dashboard/app prototype ready to scale to real feeds.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3931920" cy="4160520"/>
          </a:xfrm>
          <a:prstGeom prst="roundRect">
            <a:avLst>
              <a:gd name="adj" fmla="val 232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167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CATEGORIES WE PREDICT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55280" y="2706624"/>
            <a:ext cx="201168" cy="201168"/>
          </a:xfrm>
          <a:prstGeom prst="ellipse">
            <a:avLst/>
          </a:prstGeom>
          <a:solidFill>
            <a:srgbClr val="34C77B"/>
          </a:solidFill>
          <a:ln/>
        </p:spPr>
      </p:sp>
      <p:sp>
        <p:nvSpPr>
          <p:cNvPr id="22" name="Text 20"/>
          <p:cNvSpPr/>
          <p:nvPr/>
        </p:nvSpPr>
        <p:spPr>
          <a:xfrm>
            <a:off x="8293608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Healthy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55280" y="3273552"/>
            <a:ext cx="201168" cy="201168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24" name="Text 22"/>
          <p:cNvSpPr/>
          <p:nvPr/>
        </p:nvSpPr>
        <p:spPr>
          <a:xfrm>
            <a:off x="8293608" y="3218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Polluted / Unhealthy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955280" y="3840480"/>
            <a:ext cx="201168" cy="201168"/>
          </a:xfrm>
          <a:prstGeom prst="ellipse">
            <a:avLst/>
          </a:prstGeom>
          <a:solidFill>
            <a:srgbClr val="E8555B"/>
          </a:solidFill>
          <a:ln/>
        </p:spPr>
      </p:sp>
      <p:sp>
        <p:nvSpPr>
          <p:cNvPr id="26" name="Text 24"/>
          <p:cNvSpPr/>
          <p:nvPr/>
        </p:nvSpPr>
        <p:spPr>
          <a:xfrm>
            <a:off x="8293608" y="37856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4489704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our model produces is mapped to one of these bands — the same taxonomy carried through our EDA, dashboard, and app design.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it, step by step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939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04672" y="253288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24912" y="247345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89504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20939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54096" y="253288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74336" y="247345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38928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0939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3520" y="253288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23760" y="247345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88352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2944" y="20939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52944" y="253288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73184" y="247345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37776" y="196596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20939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802368" y="253288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8313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04672" y="427024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Model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724912" y="421081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889504" y="370332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54096" y="38313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054096" y="427024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74336" y="421081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38928" y="370332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8313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303520" y="427024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UI Prototype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223760" y="421081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88352" y="370332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2944" y="38313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552944" y="427024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473184" y="421081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637776" y="3703320"/>
            <a:ext cx="2084832" cy="1417320"/>
          </a:xfrm>
          <a:prstGeom prst="roundRect">
            <a:avLst>
              <a:gd name="adj" fmla="val 5806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02368" y="38313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802368" y="4270248"/>
            <a:ext cx="1755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Medallion Architecture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292608" cy="292608"/>
          </a:xfrm>
          <a:prstGeom prst="ellipse">
            <a:avLst/>
          </a:prstGeom>
          <a:solidFill>
            <a:srgbClr val="16323B"/>
          </a:solidFill>
          <a:ln w="19050">
            <a:solidFill>
              <a:srgbClr val="F2B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74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25856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pollutant &amp; weather readings ingested as-is from source, preserving full history for traceability.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292608" cy="292608"/>
          </a:xfrm>
          <a:prstGeom prst="ellipse">
            <a:avLst/>
          </a:prstGeom>
          <a:solidFill>
            <a:srgbClr val="16323B"/>
          </a:solidFill>
          <a:ln w="19050">
            <a:solidFill>
              <a:srgbClr val="AEC0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58444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de-duplicated, and enriched — temperature, humidity, pressure, dew point, wind, UVI, season and weekday flags, plus a computed AQI label.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553712"/>
            <a:ext cx="292608" cy="292608"/>
          </a:xfrm>
          <a:prstGeom prst="ellipse">
            <a:avLst/>
          </a:prstGeom>
          <a:solidFill>
            <a:srgbClr val="16323B"/>
          </a:solidFill>
          <a:ln w="19050">
            <a:solidFill>
              <a:srgbClr val="2FE0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26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91032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model-ready tables — feature-engineered and validated, feeding both the ML pipeline and the BI dashboard.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93992" y="1719072"/>
            <a:ext cx="4882896" cy="4023360"/>
          </a:xfrm>
          <a:prstGeom prst="roundRect">
            <a:avLst>
              <a:gd name="adj" fmla="val 1818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epi_deck/images/Screenshot_2026-07-03_0031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828800"/>
            <a:ext cx="4663440" cy="35661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93992" y="5413248"/>
            <a:ext cx="48828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— cleaned dataset with engineered AQI features (silver_layer.csv)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 before modeling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148840"/>
            <a:ext cx="365760" cy="365760"/>
          </a:xfrm>
          <a:prstGeom prst="ellipse">
            <a:avLst/>
          </a:prstGeom>
          <a:solidFill>
            <a:srgbClr val="1632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39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334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readings, outliers, and inconsistent units across countries before analysis.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148840"/>
            <a:ext cx="365760" cy="365760"/>
          </a:xfrm>
          <a:prstGeom prst="ellipse">
            <a:avLst/>
          </a:prstGeom>
          <a:solidFill>
            <a:srgbClr val="1632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139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6334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944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weather and pollutant variables — temperature, humidity, pressure, dew, wind, UVI — for distribution and quality.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148840"/>
            <a:ext cx="365760" cy="365760"/>
          </a:xfrm>
          <a:prstGeom prst="ellipse">
            <a:avLst/>
          </a:prstGeom>
          <a:solidFill>
            <a:srgbClr val="16323B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139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26334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294436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relationships between weather variables and AQI to guide feature selection for modeling.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114800"/>
            <a:ext cx="365760" cy="365760"/>
          </a:xfrm>
          <a:prstGeom prst="ellipse">
            <a:avLst/>
          </a:prstGeom>
          <a:solidFill>
            <a:srgbClr val="16323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5994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9103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heatmaps, feature-importance and residual plots generated to validate signal before training.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3886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114800"/>
            <a:ext cx="365760" cy="365760"/>
          </a:xfrm>
          <a:prstGeom prst="ellipse">
            <a:avLst/>
          </a:prstGeom>
          <a:solidFill>
            <a:srgbClr val="16323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5994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&amp; Timing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49103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AQI patterns across seasons and weekdays vs. weekends to capture temporal effects.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6720" y="38862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4114800"/>
            <a:ext cx="365760" cy="365760"/>
          </a:xfrm>
          <a:prstGeom prst="ellipse">
            <a:avLst/>
          </a:prstGeom>
          <a:solidFill>
            <a:srgbClr val="16323B"/>
          </a:solidFill>
          <a:ln/>
        </p:spPr>
      </p:sp>
      <p:sp>
        <p:nvSpPr>
          <p:cNvPr id="34" name="Text 32"/>
          <p:cNvSpPr/>
          <p:nvPr/>
        </p:nvSpPr>
        <p:spPr>
          <a:xfrm>
            <a:off x="827532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75320" y="45994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75320" y="491032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 carry meaningful signal for AQI — the basis for our feature set going into modeling.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models to predict AQI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and cross-validated eight regression approaches on the Silver-layer features, then compared them on R², RMSE and MAE.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697480" cy="438912"/>
          </a:xfrm>
          <a:prstGeom prst="roundRect">
            <a:avLst>
              <a:gd name="adj" fmla="val 12500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31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2331720"/>
            <a:ext cx="2697480" cy="438912"/>
          </a:xfrm>
          <a:prstGeom prst="roundRect">
            <a:avLst>
              <a:gd name="adj" fmla="val 12500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233172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98648"/>
            <a:ext cx="2697480" cy="438912"/>
          </a:xfrm>
          <a:prstGeom prst="roundRect">
            <a:avLst>
              <a:gd name="adj" fmla="val 12500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89864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20440" y="2898648"/>
            <a:ext cx="2697480" cy="438912"/>
          </a:xfrm>
          <a:prstGeom prst="roundRect">
            <a:avLst>
              <a:gd name="adj" fmla="val 12500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89864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2697480" cy="438912"/>
          </a:xfrm>
          <a:prstGeom prst="roundRect">
            <a:avLst>
              <a:gd name="adj" fmla="val 12500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46557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20440" y="3465576"/>
            <a:ext cx="2697480" cy="438912"/>
          </a:xfrm>
          <a:prstGeom prst="roundRect">
            <a:avLst>
              <a:gd name="adj" fmla="val 12500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346557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32504"/>
            <a:ext cx="2697480" cy="438912"/>
          </a:xfrm>
          <a:prstGeom prst="roundRect">
            <a:avLst>
              <a:gd name="adj" fmla="val 12500"/>
            </a:avLst>
          </a:prstGeom>
          <a:solidFill>
            <a:srgbClr val="16323B"/>
          </a:solidFill>
          <a:ln w="19050">
            <a:solidFill>
              <a:srgbClr val="1FB8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0325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20440" y="4032504"/>
            <a:ext cx="2697480" cy="438912"/>
          </a:xfrm>
          <a:prstGeom prst="roundRect">
            <a:avLst>
              <a:gd name="adj" fmla="val 12500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403250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selected: LightGBM Regressor — evaluated via cross-validation on R², RMSE, and MAE for the best accuracy/interpretability balance.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48272" y="1490472"/>
            <a:ext cx="4928616" cy="4617720"/>
          </a:xfrm>
          <a:prstGeom prst="roundRect">
            <a:avLst>
              <a:gd name="adj" fmla="val 1584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0" descr="/home/claude/depi_deck/images/Screenshot_2026-07-03_00294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600200"/>
            <a:ext cx="4709160" cy="41605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748272" y="5779008"/>
            <a:ext cx="4928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model_training.py — model imports &amp; evaluation metrics (R², RMSE, MAE)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inputs to an AQI verdict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 loads the trained LightGBM model, scaler and encoders, then scores new weather records and writes results to predictions.csv.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329184" cy="329184"/>
          </a:xfrm>
          <a:prstGeom prst="ellipse">
            <a:avLst/>
          </a:prstGeom>
          <a:solidFill>
            <a:srgbClr val="16323B"/>
          </a:solidFill>
          <a:ln w="15240">
            <a:solidFill>
              <a:srgbClr val="1FB8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68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88920" y="2331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city, date, temperature, humidity, pressure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329184" cy="329184"/>
          </a:xfrm>
          <a:prstGeom prst="ellipse">
            <a:avLst/>
          </a:prstGeom>
          <a:solidFill>
            <a:srgbClr val="16323B"/>
          </a:solidFill>
          <a:ln w="15240">
            <a:solidFill>
              <a:srgbClr val="1FB8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26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900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29900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+ encoders apply the same features used in training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94176"/>
            <a:ext cx="329184" cy="329184"/>
          </a:xfrm>
          <a:prstGeom prst="ellipse">
            <a:avLst/>
          </a:prstGeom>
          <a:solidFill>
            <a:srgbClr val="16323B"/>
          </a:solidFill>
          <a:ln w="15240">
            <a:solidFill>
              <a:srgbClr val="1FB8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85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648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88920" y="364845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regressor outputs a continuous AQI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29184" cy="329184"/>
          </a:xfrm>
          <a:prstGeom prst="ellipse">
            <a:avLst/>
          </a:prstGeom>
          <a:solidFill>
            <a:srgbClr val="16323B"/>
          </a:solidFill>
          <a:ln w="15240">
            <a:solidFill>
              <a:srgbClr val="1FB8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43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3068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88920" y="430682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mapped to Safe / Polluted / Hazardous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22392" y="1444752"/>
            <a:ext cx="6254496" cy="4709160"/>
          </a:xfrm>
          <a:prstGeom prst="roundRect">
            <a:avLst>
              <a:gd name="adj" fmla="val 1553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0" descr="/home/claude/depi_deck/images/Screenshot_2026-06-27_19595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554480"/>
            <a:ext cx="6035040" cy="42519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22392" y="5824728"/>
            <a:ext cx="6254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 running in VS Code — demo records scored as Safe/Healthy and Polluted/Unhealthy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the data powers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pipeline, we designed a dashboard concept with a consistent design system, ready to be rebuilt in Power BI and wired to live Gold-layer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2084832"/>
            <a:ext cx="3785616" cy="2788920"/>
          </a:xfrm>
          <a:prstGeom prst="roundRect">
            <a:avLst>
              <a:gd name="adj" fmla="val 2623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/home/claude/depi_deck/images/Screenshot_2026-07-03_0034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3566160" cy="2331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4544568"/>
            <a:ext cx="3785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— app design system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16552" y="2084832"/>
            <a:ext cx="3785616" cy="2788920"/>
          </a:xfrm>
          <a:prstGeom prst="roundRect">
            <a:avLst>
              <a:gd name="adj" fmla="val 2623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/home/claude/depi_deck/images/Screenshot_2026-07-03_00341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2194560"/>
            <a:ext cx="3566160" cy="2331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6552" y="4544568"/>
            <a:ext cx="3785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 — palette, type &amp; spacing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02752" y="2084832"/>
            <a:ext cx="3374136" cy="2788920"/>
          </a:xfrm>
          <a:prstGeom prst="roundRect">
            <a:avLst>
              <a:gd name="adj" fmla="val 2623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/home/claude/depi_deck/images/Screenshot_2026-07-03_003436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2480" y="2194560"/>
            <a:ext cx="3154680" cy="23317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02752" y="4544568"/>
            <a:ext cx="3374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dashboard frame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tells us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84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Berlin, Nov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8.5°C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AQI 0.63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4290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4C77B">
              <a:alpha val="18000"/>
            </a:srgbClr>
          </a:solidFill>
          <a:ln w="12700">
            <a:solidFill>
              <a:srgbClr val="34C7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C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Healthy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84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Lahore, Dec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14.0°C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2971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AQI 1.53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4290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B441">
              <a:alpha val="18000"/>
            </a:srgbClr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Polluted / Unhealthy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66760" y="1975104"/>
            <a:ext cx="91440" cy="91440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0" y="184708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correctly separates a cool, low-pollution city day from a warmer, high-humidity polluted one — matching domain expectations.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66760" y="3026664"/>
            <a:ext cx="91440" cy="91440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289864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artifact set (scaler, encoders, trained model) lets predictions run consistently outside the training environment.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66760" y="4078224"/>
            <a:ext cx="91440" cy="91440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3950208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Safe / Polluted / Hazardous taxonomy flows from model output through to the dashboard and app UI — one shared language for end users.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12064"/>
            <a:ext cx="82296" cy="82296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402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work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03120"/>
            <a:ext cx="146304" cy="146304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2670048"/>
            <a:ext cx="73152" cy="73152"/>
          </a:xfrm>
          <a:prstGeom prst="ellipse">
            <a:avLst/>
          </a:prstGeom>
          <a:solidFill>
            <a:srgbClr val="7E93A3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253288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weather and pollutant sources with inconsistent formats and coverage across countries.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5840" y="3630168"/>
            <a:ext cx="73152" cy="73152"/>
          </a:xfrm>
          <a:prstGeom prst="ellipse">
            <a:avLst/>
          </a:prstGeom>
          <a:solidFill>
            <a:srgbClr val="7E93A3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4930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Demo-scale records so far — accuracy needs validation against larger, real-time feeds.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4590288"/>
            <a:ext cx="73152" cy="73152"/>
          </a:xfrm>
          <a:prstGeom prst="ellipse">
            <a:avLst/>
          </a:prstGeom>
          <a:solidFill>
            <a:srgbClr val="7E93A3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4531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warnings (e.g. missing feature names at inference) to clean up for production.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7830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32A36"/>
          </a:solidFill>
          <a:ln w="12700">
            <a:solidFill>
              <a:srgbClr val="1E3A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103120"/>
            <a:ext cx="146304" cy="146304"/>
          </a:xfrm>
          <a:prstGeom prst="ellipse">
            <a:avLst/>
          </a:prstGeom>
          <a:solidFill>
            <a:srgbClr val="1FB8C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670048"/>
            <a:ext cx="73152" cy="73152"/>
          </a:xfrm>
          <a:prstGeom prst="ellipse">
            <a:avLst/>
          </a:prstGeom>
          <a:solidFill>
            <a:srgbClr val="7E93A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53288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Gold layer directly to a live Power BI dashboard for real-time monitoring.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29400" y="3630168"/>
            <a:ext cx="73152" cy="73152"/>
          </a:xfrm>
          <a:prstGeom prst="ellipse">
            <a:avLst/>
          </a:prstGeom>
          <a:solidFill>
            <a:srgbClr val="7E93A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4930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model coverage with more cities, seasons, and pollutant types.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4590288"/>
            <a:ext cx="73152" cy="73152"/>
          </a:xfrm>
          <a:prstGeom prst="ellipse">
            <a:avLst/>
          </a:prstGeom>
          <a:solidFill>
            <a:srgbClr val="7E93A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4531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prediction pipeline as an API behind the app UI.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 &amp; AQI Prediction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5943600" cy="5943600"/>
          </a:xfrm>
          <a:prstGeom prst="ellipse">
            <a:avLst/>
          </a:prstGeom>
          <a:solidFill>
            <a:srgbClr val="1FB8C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4572000" cy="4572000"/>
          </a:xfrm>
          <a:prstGeom prst="ellipse">
            <a:avLst/>
          </a:prstGeom>
          <a:solidFill>
            <a:srgbClr val="2FE0C4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Air Quality Analytics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3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AQI Prediction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·  DEPI Data Analysis Track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supervision of Eng. Mohamed El-Emam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5230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Air Quality Analytics &amp; AQI Prediction</dc:title>
  <dc:subject>PptxGenJS Presentation</dc:subject>
  <dc:creator>DEPI Data Analysis Track</dc:creator>
  <cp:lastModifiedBy>DEPI Data Analysis Track</cp:lastModifiedBy>
  <cp:revision>1</cp:revision>
  <dcterms:created xsi:type="dcterms:W3CDTF">2026-07-02T21:49:09Z</dcterms:created>
  <dcterms:modified xsi:type="dcterms:W3CDTF">2026-07-02T21:49:09Z</dcterms:modified>
</cp:coreProperties>
</file>